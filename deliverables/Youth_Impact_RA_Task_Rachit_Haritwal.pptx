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44228d4bd44eea" /><Relationship Type="http://schemas.openxmlformats.org/officeDocument/2006/relationships/extended-properties" Target="/docProps/app.xml" Id="Rffa27a6e9f85476f" /><Relationship Type="http://schemas.openxmlformats.org/officeDocument/2006/relationships/officeDocument" Target="/ppt/presentation.xml" Id="Rc5c1ef2f682f41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6cc91a2f5049bb"/>
  </p:sldMasterIdLst>
  <p:notesMasterIdLst>
    <p:notesMasterId xmlns:r="http://schemas.openxmlformats.org/officeDocument/2006/relationships" r:id="R07c8d46711b84d92"/>
  </p:notesMasterIdLst>
  <p:sldIdLst>
    <p:sldId xmlns:r="http://schemas.openxmlformats.org/officeDocument/2006/relationships" id="256" r:id="R398da115fd804c2e"/>
    <p:sldId xmlns:r="http://schemas.openxmlformats.org/officeDocument/2006/relationships" id="257" r:id="R079809106b14446d"/>
    <p:sldId xmlns:r="http://schemas.openxmlformats.org/officeDocument/2006/relationships" id="258" r:id="Rc2ee61f1a0c24ece"/>
    <p:sldId xmlns:r="http://schemas.openxmlformats.org/officeDocument/2006/relationships" id="259" r:id="R75368c6a97b848e9"/>
    <p:sldId xmlns:r="http://schemas.openxmlformats.org/officeDocument/2006/relationships" id="260" r:id="R369272a937ba484f"/>
    <p:sldId xmlns:r="http://schemas.openxmlformats.org/officeDocument/2006/relationships" id="261" r:id="R687f814a9b524792"/>
    <p:sldId xmlns:r="http://schemas.openxmlformats.org/officeDocument/2006/relationships" id="262" r:id="R94143e918aa449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c91870cfa8469d" /><Relationship Type="http://schemas.openxmlformats.org/officeDocument/2006/relationships/slideMaster" Target="/ppt/slideMasters/slideMaster1.xml" Id="Rf26cc91a2f5049bb" /><Relationship Type="http://schemas.openxmlformats.org/officeDocument/2006/relationships/notesMaster" Target="/ppt/notesMasters/notesMaster1.xml" Id="R07c8d46711b84d92" /><Relationship Type="http://schemas.openxmlformats.org/officeDocument/2006/relationships/presProps" Target="/ppt/presProps.xml" Id="Rb77a204b34144a4a" /><Relationship Type="http://schemas.openxmlformats.org/officeDocument/2006/relationships/tableStyles" Target="/ppt/tableStyles.xml" Id="Rca389ff3c2a84e8b" /><Relationship Type="http://schemas.openxmlformats.org/officeDocument/2006/relationships/slide" Target="/ppt/slides/slide1.xml" Id="R398da115fd804c2e" /><Relationship Type="http://schemas.openxmlformats.org/officeDocument/2006/relationships/slide" Target="/ppt/slides/slide2.xml" Id="R079809106b14446d" /><Relationship Type="http://schemas.openxmlformats.org/officeDocument/2006/relationships/slide" Target="/ppt/slides/slide3.xml" Id="Rc2ee61f1a0c24ece" /><Relationship Type="http://schemas.openxmlformats.org/officeDocument/2006/relationships/slide" Target="/ppt/slides/slide4.xml" Id="R75368c6a97b848e9" /><Relationship Type="http://schemas.openxmlformats.org/officeDocument/2006/relationships/slide" Target="/ppt/slides/slide5.xml" Id="R369272a937ba484f" /><Relationship Type="http://schemas.openxmlformats.org/officeDocument/2006/relationships/slide" Target="/ppt/slides/slide6.xml" Id="R687f814a9b524792" /><Relationship Type="http://schemas.openxmlformats.org/officeDocument/2006/relationships/slide" Target="/ppt/slides/slide7.xml" Id="R94143e918aa449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9f208526aa4a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9780c6e8cd42f4" /><Relationship Type="http://schemas.openxmlformats.org/officeDocument/2006/relationships/notesMaster" Target="/ppt/notesMasters/notesMaster1.xml" Id="R87d212ac2b7b4a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13edca73bc4bb7" /><Relationship Type="http://schemas.openxmlformats.org/officeDocument/2006/relationships/notesMaster" Target="/ppt/notesMasters/notesMaster1.xml" Id="R0acf86e2917f4f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7ec0cba04d47d9" /><Relationship Type="http://schemas.openxmlformats.org/officeDocument/2006/relationships/notesMaster" Target="/ppt/notesMasters/notesMaster1.xml" Id="Racb53bef8a6f4b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ea6fc7aa3046f5" /><Relationship Type="http://schemas.openxmlformats.org/officeDocument/2006/relationships/notesMaster" Target="/ppt/notesMasters/notesMaster1.xml" Id="R969dbcd649314d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629c1a06f74f32" /><Relationship Type="http://schemas.openxmlformats.org/officeDocument/2006/relationships/notesMaster" Target="/ppt/notesMasters/notesMaster1.xml" Id="R95c1dfecf15546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e1ebc4813e4470" /><Relationship Type="http://schemas.openxmlformats.org/officeDocument/2006/relationships/notesMaster" Target="/ppt/notesMasters/notesMaster1.xml" Id="R5c23f9f8af9a4a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d05b3bdc084131" /><Relationship Type="http://schemas.openxmlformats.org/officeDocument/2006/relationships/notesMaster" Target="/ppt/notesMasters/notesMaster1.xml" Id="R686b062d76cd4a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present the required learning KPIs, implementation fidelity, cleaning choices, and data-system recommendations.</a:t>
            </a:r>
          </a:p>
          <a:p xmlns:a="http://schemas.openxmlformats.org/drawingml/2006/main">
            <a:r>
              <a:t>Source: candidate-provided de-identified SurveyCTO exports and form definitions.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Denominator: 240 students with valid assessments at both baseline and endline.</a:t>
            </a:r>
          </a:p>
          <a:p xmlns:a="http://schemas.openxmlformats.org/drawingml/2006/main">
            <a:r>
              <a:t>Numerators: division at endline = 126; no operation at endline = 17; higher endline level than baseline = 188.</a:t>
            </a:r>
          </a:p>
          <a:p xmlns:a="http://schemas.openxmlformats.org/drawingml/2006/main">
            <a:r>
              <a:t>These are descriptive pre/post outcomes. No comparison group is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chart compares the same 240 students at both time points.</a:t>
            </a:r>
          </a:p>
          <a:p xmlns:a="http://schemas.openxmlformats.org/drawingml/2006/main">
            <a:r>
              <a:t>Multiplication plus division: 52 of 240 at baseline and 187 of 240 at endline.</a:t>
            </a:r>
          </a:p>
          <a:p xmlns:a="http://schemas.openxmlformats.org/drawingml/2006/main">
            <a:r>
              <a:t>Level changes remain descriptive because there is no counterfactual group.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Attempt counts by week: 384, 341, 304, 281, 255, 242.</a:t>
            </a:r>
          </a:p>
          <a:p xmlns:a="http://schemas.openxmlformats.org/drawingml/2006/main">
            <a:r>
              <a:t>Completed tutoring counts by week: 373, 330, 300, 279, 254, 239.</a:t>
            </a:r>
          </a:p>
          <a:p xmlns:a="http://schemas.openxmlformats.org/drawingml/2006/main">
            <a:r>
              <a:t>The measure treats a successful tutoring record as completion and distinguishes absent logs from unsuccessful attempts.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240 paired students are 55.7% of the 431 baseline-assessed cohort.</a:t>
            </a:r>
          </a:p>
          <a:p xmlns:a="http://schemas.openxmlformats.org/drawingml/2006/main">
            <a:r>
              <a:t>Baseline-specific valid endline rates: no operation 52.3%, addition 57.3%, subtraction 54.2%, multiplication 55.3%, division 68.4%.</a:t>
            </a:r>
          </a:p>
          <a:p xmlns:a="http://schemas.openxmlformats.org/drawingml/2006/main">
            <a:r>
              <a:t>Because follow-up is incomplete and differs by starting level, paired-sample outcomes may not represent the entire baseline cohort.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SurveyCTO key is a unique submission key; hhid is the cross-phase student identifier.</a:t>
            </a:r>
          </a:p>
          <a:p xmlns:a="http://schemas.openxmlformats.org/drawingml/2006/main">
            <a:r>
              <a:t>Choosing the earliest valid phase assessment avoids selecting on score. If a student never has a valid assessment, the latest attempt is retained for operational status.</a:t>
            </a:r>
          </a:p>
          <a:p xmlns:a="http://schemas.openxmlformats.org/drawingml/2006/main">
            <a:r>
              <a:t>The latest-valid-baseline sensitivity check reproduces the 78.3% learned-new-operation estimate.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Repeated records are legitimate call attempts, but repeated completed events need an explicit canonical-record workflow.</a:t>
            </a:r>
          </a:p>
          <a:p xmlns:a="http://schemas.openxmlformats.org/drawingml/2006/main">
            <a:r>
              <a:t>Implementation-only IDs should not be silently discarded; roster validation can prevent or immediately surface cross-phase ID mismatches.</a:t>
            </a:r>
          </a:p>
          <a:p xmlns:a="http://schemas.openxmlformats.org/drawingml/2006/main">
            <a:r>
              <a:t>The implementation form includes dormant week 7 and week 8 branches even though the program specification and observed data use six weeks.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f50434108b4f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13a8964a214a78" /><Relationship Type="http://schemas.openxmlformats.org/officeDocument/2006/relationships/slideLayout" Target="/ppt/slideLayouts/slideLayout1.xml" Id="R59615d6de82d4d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615d6de82d4d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4a1b9204748a9" /><Relationship Type="http://schemas.openxmlformats.org/officeDocument/2006/relationships/notesSlide" Target="/ppt/notesSlides/notesSlide1.xml" Id="R94823360a5174e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0eca82c0a44fc" /><Relationship Type="http://schemas.openxmlformats.org/officeDocument/2006/relationships/chart" Target="/ppt/slides/charts/chart1.xml" Id="R4bae8e45921c4fbc" /><Relationship Type="http://schemas.openxmlformats.org/officeDocument/2006/relationships/notesSlide" Target="/ppt/notesSlides/notesSlide2.xml" Id="R2b2dd0ce1c0a48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4e80d54f34991" /><Relationship Type="http://schemas.openxmlformats.org/officeDocument/2006/relationships/chart" Target="/ppt/slides/charts/chart2.xml" Id="R08aab31070404205" /><Relationship Type="http://schemas.openxmlformats.org/officeDocument/2006/relationships/notesSlide" Target="/ppt/notesSlides/notesSlide3.xml" Id="R0551871dc09f41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f5c97e0034bae" /><Relationship Type="http://schemas.openxmlformats.org/officeDocument/2006/relationships/chart" Target="/ppt/slides/charts/chart3.xml" Id="Re79e3af702c848b2" /><Relationship Type="http://schemas.openxmlformats.org/officeDocument/2006/relationships/notesSlide" Target="/ppt/notesSlides/notesSlide4.xml" Id="Rd633cd23cf0746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194fa8bc8454d" /><Relationship Type="http://schemas.openxmlformats.org/officeDocument/2006/relationships/chart" Target="/ppt/slides/charts/chart4.xml" Id="R9dc1b4bc0ffa4fc3" /><Relationship Type="http://schemas.openxmlformats.org/officeDocument/2006/relationships/notesSlide" Target="/ppt/notesSlides/notesSlide5.xml" Id="R36da958066504c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aa493acd54bc6" /><Relationship Type="http://schemas.openxmlformats.org/officeDocument/2006/relationships/notesSlide" Target="/ppt/notesSlides/notesSlide6.xml" Id="R1af45d07a6fa47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fb67abb7047c8" /><Relationship Type="http://schemas.openxmlformats.org/officeDocument/2006/relationships/notesSlide" Target="/ppt/notesSlides/notesSlide7.xml" Id="R4b1e4ce106744c8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Required learning KPIs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8324A"/>
              </a:solidFill>
              <a:latin typeface="DejaVu Sans"/>
              <a:ea typeface="DejaVu Sans"/>
              <a:cs typeface="DejaVu Sans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Share of paired students</c:v>
          </c:tx>
          <c:spPr>
            <a:solidFill xmlns:a="http://schemas.openxmlformats.org/drawingml/2006/main">
              <a:srgbClr val="1B6CA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2A9D8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28E2B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1B6CA8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Mastering division</c:v>
                </c:pt>
                <c:pt idx="1">
                  <c:v>No operation mastered</c:v>
                </c:pt>
                <c:pt idx="2">
                  <c:v>Learned a new operation</c:v>
                </c:pt>
              </c:strCache>
            </c:strRef>
          </c:cat>
          <c:val>
            <c:numRef>
              <c:f>'Chart Data'!$B$2:$B$4</c:f>
              <c:numCache>
                <c:formatCode>0.0%</c:formatCode>
                <c:ptCount val="3"/>
                <c:pt idx="0">
                  <c:v>0.525</c:v>
                </c:pt>
                <c:pt idx="1">
                  <c:v>0.0708333333</c:v>
                </c:pt>
                <c:pt idx="2">
                  <c:v>0.7833333333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25313C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9EF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CBD6D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66573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6D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313C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Numeracy level at baseline and endline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8324A"/>
              </a:solidFill>
              <a:latin typeface="DejaVu Sans"/>
              <a:ea typeface="DejaVu Sans"/>
              <a:cs typeface="DejaVu Sans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A9B8C6"/>
            </a:solidFill>
          </c:spPr>
          <c:cat>
            <c:strRef>
              <c:f>'Chart Data'!$A$2:$A$6</c:f>
              <c:strCache>
                <c:ptCount val="5"/>
                <c:pt idx="0">
                  <c:v>No operation</c:v>
                </c:pt>
                <c:pt idx="1">
                  <c:v>Addition</c:v>
                </c:pt>
                <c:pt idx="2">
                  <c:v>Subtraction</c:v>
                </c:pt>
                <c:pt idx="3">
                  <c:v>Multiplication</c:v>
                </c:pt>
                <c:pt idx="4">
                  <c:v>Division</c:v>
                </c:pt>
              </c:strCache>
            </c:strRef>
          </c:cat>
          <c:val>
            <c:numRef>
              <c:f>'Chart Data'!$B$2:$B$6</c:f>
              <c:numCache>
                <c:formatCode>0.0%</c:formatCode>
                <c:ptCount val="5"/>
                <c:pt idx="0">
                  <c:v>0.3791666667</c:v>
                </c:pt>
                <c:pt idx="1">
                  <c:v>0.2958333333</c:v>
                </c:pt>
                <c:pt idx="2">
                  <c:v>0.1083333333</c:v>
                </c:pt>
                <c:pt idx="3">
                  <c:v>0.1083333333</c:v>
                </c:pt>
                <c:pt idx="4">
                  <c:v>0.1083333333</c:v>
                </c:pt>
              </c:numCache>
            </c:numRef>
          </c:val>
        </c:ser>
        <c:ser>
          <c:idx val="1"/>
          <c:order val="1"/>
          <c:tx>
            <c:v>Endline</c:v>
          </c:tx>
          <c:spPr>
            <a:solidFill xmlns:a="http://schemas.openxmlformats.org/drawingml/2006/main">
              <a:srgbClr val="1B6CA8"/>
            </a:solidFill>
          </c:spPr>
          <c:cat>
            <c:strRef>
              <c:f>'Chart Data'!$C$2:$C$6</c:f>
              <c:strCache>
                <c:ptCount val="5"/>
                <c:pt idx="0">
                  <c:v>No operation</c:v>
                </c:pt>
                <c:pt idx="1">
                  <c:v>Addition</c:v>
                </c:pt>
                <c:pt idx="2">
                  <c:v>Subtraction</c:v>
                </c:pt>
                <c:pt idx="3">
                  <c:v>Multiplication</c:v>
                </c:pt>
                <c:pt idx="4">
                  <c:v>Division</c:v>
                </c:pt>
              </c:strCache>
            </c:strRef>
          </c:cat>
          <c:val>
            <c:numRef>
              <c:f>'Chart Data'!$D$2:$D$6</c:f>
              <c:numCache>
                <c:formatCode>0.0%</c:formatCode>
                <c:ptCount val="5"/>
                <c:pt idx="0">
                  <c:v>0.0708333333</c:v>
                </c:pt>
                <c:pt idx="1">
                  <c:v>0.0583333333</c:v>
                </c:pt>
                <c:pt idx="2">
                  <c:v>0.0916666667</c:v>
                </c:pt>
                <c:pt idx="3">
                  <c:v>0.2541666667</c:v>
                </c:pt>
                <c:pt idx="4">
                  <c:v>0.525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25313C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6D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5313C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9EF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CBD6D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66573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66573"/>
              </a:solidFill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Call attempts and completed tutoring by week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8324A"/>
              </a:solidFill>
              <a:latin typeface="DejaVu Sans"/>
              <a:ea typeface="DejaVu Sans"/>
              <a:cs typeface="DejaVu Sans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Any call attempt logged</c:v>
          </c:tx>
          <c:spPr>
            <a:ln xmlns:a="http://schemas.openxmlformats.org/drawingml/2006/main" w="28575">
              <a:solidFill>
                <a:srgbClr val="F28E2B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F28E2B"/>
              </a:solidFill>
            </c:spPr>
          </c:marker>
          <c:cat>
            <c:strRef>
              <c:f>'Chart Data'!$A$2:$A$7</c:f>
              <c:strCache>
                <c:ptCount val="6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  <c:pt idx="4">
                  <c:v>Week 5</c:v>
                </c:pt>
                <c:pt idx="5">
                  <c:v>Week 6</c:v>
                </c:pt>
              </c:strCache>
            </c:strRef>
          </c:cat>
          <c:val>
            <c:numRef>
              <c:f>'Chart Data'!$B$2:$B$7</c:f>
              <c:numCache>
                <c:formatCode>0.0%</c:formatCode>
                <c:ptCount val="6"/>
                <c:pt idx="0">
                  <c:v>0.8909512761</c:v>
                </c:pt>
                <c:pt idx="1">
                  <c:v>0.7911832947</c:v>
                </c:pt>
                <c:pt idx="2">
                  <c:v>0.7053364269</c:v>
                </c:pt>
                <c:pt idx="3">
                  <c:v>0.6519721578</c:v>
                </c:pt>
                <c:pt idx="4">
                  <c:v>0.5916473318</c:v>
                </c:pt>
                <c:pt idx="5">
                  <c:v>0.5614849188</c:v>
                </c:pt>
              </c:numCache>
            </c:numRef>
          </c:val>
          <c:smooth val="0"/>
        </c:ser>
        <c:ser>
          <c:idx val="1"/>
          <c:order val="1"/>
          <c:tx>
            <c:v>Tutoring completed</c:v>
          </c:tx>
          <c:spPr>
            <a:ln xmlns:a="http://schemas.openxmlformats.org/drawingml/2006/main" w="28575">
              <a:solidFill>
                <a:srgbClr val="1B6CA8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1B6CA8"/>
              </a:solidFill>
            </c:spPr>
          </c:marker>
          <c:cat>
            <c:strRef>
              <c:f>'Chart Data'!$C$2:$C$7</c:f>
              <c:strCache>
                <c:ptCount val="6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  <c:pt idx="4">
                  <c:v>Week 5</c:v>
                </c:pt>
                <c:pt idx="5">
                  <c:v>Week 6</c:v>
                </c:pt>
              </c:strCache>
            </c:strRef>
          </c:cat>
          <c:val>
            <c:numRef>
              <c:f>'Chart Data'!$D$2:$D$7</c:f>
              <c:numCache>
                <c:formatCode>0.0%</c:formatCode>
                <c:ptCount val="6"/>
                <c:pt idx="0">
                  <c:v>0.8654292343</c:v>
                </c:pt>
                <c:pt idx="1">
                  <c:v>0.7656612529</c:v>
                </c:pt>
                <c:pt idx="2">
                  <c:v>0.6960556845</c:v>
                </c:pt>
                <c:pt idx="3">
                  <c:v>0.6473317865</c:v>
                </c:pt>
                <c:pt idx="4">
                  <c:v>0.5893271462</c:v>
                </c:pt>
                <c:pt idx="5">
                  <c:v>0.5545243619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6D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5313C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9EF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CBD6D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66573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66573"/>
              </a:solidFill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Student flow into the paired analysis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8324A"/>
              </a:solidFill>
              <a:latin typeface="DejaVu Sans"/>
              <a:ea typeface="DejaVu Sans"/>
              <a:cs typeface="DejaVu Sans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Students</c:v>
          </c:tx>
          <c:spPr>
            <a:solidFill xmlns:a="http://schemas.openxmlformats.org/drawingml/2006/main">
              <a:srgbClr val="1B6CA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88B7D6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B6CA8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28E2B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A9D8F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Any sensitization attempt</c:v>
                </c:pt>
                <c:pt idx="1">
                  <c:v>Valid baseline assessment</c:v>
                </c:pt>
                <c:pt idx="2">
                  <c:v>Any endline attempt among baseline</c:v>
                </c:pt>
                <c:pt idx="3">
                  <c:v>Valid paired assessments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473</c:v>
                </c:pt>
                <c:pt idx="1">
                  <c:v>431</c:v>
                </c:pt>
                <c:pt idx="2">
                  <c:v>247</c:v>
                </c:pt>
                <c:pt idx="3">
                  <c:v>240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25313C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9EF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CBD6D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66573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6D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5313C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A2A0A-DA2A-4077-B1FB-A0E1D5AF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CA8"/>
          </a:solidFill>
          <a:ln xmlns:a="http://schemas.openxmlformats.org/drawingml/2006/main" w="0">
            <a:solidFill>
              <a:srgbClr val="1B6CA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5B751-292B-4840-A387-BF4A9186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763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B6CA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B6CA8"/>
                </a:solidFill>
                <a:latin typeface="DejaVu Sans"/>
                <a:ea typeface="DejaVu Sans"/>
                <a:cs typeface="DejaVu Sans"/>
              </a:rPr>
              <a:t>YOUTH IMPACT  |  RESEARCH ASSOCIATE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09596-D261-42D2-BF25-E1FF80C2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mEducation data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6101F-2A19-4107-A81B-B52C45A5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56657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566573"/>
                </a:solidFill>
                <a:latin typeface="DejaVu Sans"/>
                <a:ea typeface="DejaVu Sans"/>
                <a:cs typeface="DejaVu Sans"/>
              </a:rPr>
              <a:t>Learning outcomes, implementation fidelity, and data quality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991A0-B754-487F-9385-51A647FE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28E2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E647A-6160-4FC8-B9FE-1976FA26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01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531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Rachit Haritwal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CDFDA-F263-467D-9468-DB2E4D78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665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573"/>
                </a:solidFill>
                <a:latin typeface="DejaVu Sans"/>
                <a:ea typeface="DejaVu Sans"/>
                <a:cs typeface="DejaVu Sans"/>
              </a:rPr>
              <a:t>10 September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697AE-EC9D-4A8C-940D-8BEA4331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00550"/>
            <a:ext cx="4038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8"/>
          </a:solidFill>
          <a:ln xmlns:a="http://schemas.openxmlformats.org/drawingml/2006/main" w="0">
            <a:solidFill>
              <a:srgbClr val="E8F2F8"/>
            </a:solidFill>
            <a:prstDash val="solid"/>
          </a:ln>
        </p:spPr>
        <p:txBody>
          <a:bodyPr xmlns:a="http://schemas.openxmlformats.org/drawingml/2006/main" lIns="114300" tIns="0" rIns="1143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5780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55780"/>
                </a:solidFill>
                <a:latin typeface="DejaVu Sans"/>
                <a:ea typeface="DejaVu Sans"/>
                <a:cs typeface="DejaVu Sans"/>
              </a:rPr>
              <a:t>BASELINE   |   6 WEEKS   |   ENDLINE</a:t>
            </a:r>
          </a:p>
        </p:txBody>
      </p:sp>
    </p:spTree>
    <p:extLst>
      <p:ext uri="{BB962C8B-B14F-4D97-AF65-F5344CB8AC3E}">
        <p14:creationId xmlns:p14="http://schemas.microsoft.com/office/powerpoint/2010/main" val="9812621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618F69-BAE7-4515-98B6-F0CE9CBA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B6CA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B6CA8"/>
                </a:solidFill>
                <a:latin typeface="DejaVu Sans"/>
                <a:ea typeface="DejaVu Sans"/>
                <a:cs typeface="DejaVu Sans"/>
              </a:rPr>
              <a:t>FINDINGS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763BD-3495-4D8B-B740-86B77456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Most paired students moved up at least one level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73970-84AA-4EB3-809C-4DD35C7C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665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573"/>
                </a:solidFill>
                <a:latin typeface="DejaVu Sans"/>
                <a:ea typeface="DejaVu Sans"/>
                <a:cs typeface="DejaVu Sans"/>
              </a:rPr>
              <a:t>Required KPIs use students with valid baseline and endline assessments (N = 240).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6B120-12DE-4AC9-A098-C448A55F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9EF"/>
            </a:solidFill>
            <a:prstDash val="solid"/>
          </a:ln>
        </p:spPr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23875" y="1657350"/>
          <a:ext xmlns:a="http://schemas.openxmlformats.org/drawingml/2006/main" cx="7715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ae8e45921c4fb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48CCDF-7369-4D22-97DF-08639083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33575"/>
            <a:ext cx="3000375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0">
            <a:solidFill>
              <a:srgbClr val="E8F2F8"/>
            </a:solidFill>
            <a:prstDash val="solid"/>
          </a:ln>
        </p:spPr>
        <p:txBody>
          <a:bodyPr xmlns:a="http://schemas.openxmlformats.org/drawingml/2006/main" wrap="square" lIns="209550" tIns="190500" rIns="209550" bIns="1714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2531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Baseline reference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25313C"/>
                </a:solidFill>
                <a:latin typeface="DejaVu Sans"/>
                <a:ea typeface="DejaVu Sans"/>
                <a:cs typeface="DejaVu Sans"/>
              </a:defRPr>
            </a:pPr>
            <a:r>
              <a:rPr sz="1500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Same 240 students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2531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Division</a:t>
            </a:r>
            <a:r>
              <a:rPr sz="1500" b="0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
10.8% at baseline; 52.5% at endline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2531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No operation</a:t>
            </a:r>
            <a:r>
              <a:rPr sz="1500" b="0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
37.9% at baseline; 7.1% at endline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2A4AB-62CE-46E1-888A-8943C60D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048250"/>
            <a:ext cx="3000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28E2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28E2B"/>
                </a:solidFill>
                <a:latin typeface="DejaVu Sans"/>
                <a:ea typeface="DejaVu Sans"/>
                <a:cs typeface="DejaVu Sans"/>
              </a:rPr>
              <a:t>The distribution changed substantially, but the design does not identify causal impact.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375CA-284D-4647-AD90-ED450D6B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7D8A96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7D8A96"/>
                </a:solidFill>
                <a:latin typeface="DejaVu Sans"/>
                <a:ea typeface="DejaVu Sans"/>
                <a:cs typeface="DejaVu Sans"/>
              </a:rPr>
              <a:t>Source: candidate-provided de-identified SurveyCTO exports and form definitions; calculations in RA Data Analysis Task.R.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C307A9-7026-4749-B11E-3437D9D0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7D8A96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7D8A96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344033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28AFEA-B01C-4AA8-ADE2-767118BC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B6CA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B6CA8"/>
                </a:solidFill>
                <a:latin typeface="DejaVu Sans"/>
                <a:ea typeface="DejaVu Sans"/>
                <a:cs typeface="DejaVu Sans"/>
              </a:rPr>
              <a:t>FINDINGS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102C0-E75C-4D84-9D29-311ACACB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Students shifted toward multiplication and division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39CC18-F261-4E7F-8881-A2BA3C62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665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573"/>
                </a:solidFill>
                <a:latin typeface="DejaVu Sans"/>
                <a:ea typeface="DejaVu Sans"/>
                <a:cs typeface="DejaVu Sans"/>
              </a:rPr>
              <a:t>Highest operation mastered, paired baseline and endline assessments (N = 240).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61C82-764B-4DEA-8B24-56DE5F28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9EF"/>
            </a:solidFill>
            <a:prstDash val="solid"/>
          </a:ln>
        </p:spPr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23875" y="1638300"/>
          <a:ext xmlns:a="http://schemas.openxmlformats.org/drawingml/2006/main" cx="8620125" cy="4229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aab3107040420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181FD-DD43-482B-AD68-4249A4A3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76450"/>
            <a:ext cx="2190750" cy="238125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E6F5F3"/>
          </a:solidFill>
          <a:ln xmlns:a="http://schemas.openxmlformats.org/drawingml/2006/main" w="0">
            <a:solidFill>
              <a:srgbClr val="E6F5F3"/>
            </a:solidFill>
            <a:prstDash val="solid"/>
          </a:ln>
        </p:spPr>
        <p:txBody>
          <a:bodyPr xmlns:a="http://schemas.openxmlformats.org/drawingml/2006/main" wrap="square" lIns="171450" tIns="190500" rIns="171450" bIns="1905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25313C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77.9%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2531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finished at multiplication or division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25313C"/>
                </a:solidFill>
                <a:latin typeface="DejaVu Sans"/>
                <a:ea typeface="DejaVu Sans"/>
                <a:cs typeface="DejaVu Sans"/>
              </a:defRPr>
            </a:pPr>
            <a:r>
              <a:rPr sz="1350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versus 21.7% at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0EC0B-C401-4085-BA0B-0601F280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14875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665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66573"/>
                </a:solidFill>
                <a:latin typeface="DejaVu Sans"/>
                <a:ea typeface="DejaVu Sans"/>
                <a:cs typeface="DejaVu Sans"/>
              </a:rPr>
              <a:t>Counts: baseline 91 / 71 / 26 / 26 / 26; endline 17 / 14 / 22 / 61 / 126.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C7054-FEFE-4848-95A7-14A243F7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7D8A96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7D8A96"/>
                </a:solidFill>
                <a:latin typeface="DejaVu Sans"/>
                <a:ea typeface="DejaVu Sans"/>
                <a:cs typeface="DejaVu Sans"/>
              </a:rPr>
              <a:t>Source: candidate-provided de-identified SurveyCTO exports and form definitions; calculations in RA Data Analysis Task.R.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24AA5-EAAE-4EC1-A273-32FB9175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7D8A96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7D8A96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204276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98E2D-1EFC-4E38-80B7-92D57A79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B6CA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B6CA8"/>
                </a:solidFill>
                <a:latin typeface="DejaVu Sans"/>
                <a:ea typeface="DejaVu Sans"/>
                <a:cs typeface="DejaVu Sans"/>
              </a:rPr>
              <a:t>FINDINGS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F179E-8F92-42D7-9133-2ADA4EA0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Tutoring completion declined each week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9F9F5-EFDE-4D5F-B3E6-D86F3BDE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665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573"/>
                </a:solidFill>
                <a:latin typeface="DejaVu Sans"/>
                <a:ea typeface="DejaVu Sans"/>
                <a:cs typeface="DejaVu Sans"/>
              </a:rPr>
              <a:t>Weekly activity as a share of 431 students with a valid baseline assessment.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88983-5259-4C62-B652-D144AF79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9EF"/>
            </a:solidFill>
            <a:prstDash val="solid"/>
          </a:ln>
        </p:spPr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23875" y="1638300"/>
          <a:ext xmlns:a="http://schemas.openxmlformats.org/drawingml/2006/main" cx="8572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9e3af702c848b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5430E-9817-40E8-8563-3E167605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76450"/>
            <a:ext cx="2238375" cy="2619375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FFF1E3"/>
          </a:solidFill>
          <a:ln xmlns:a="http://schemas.openxmlformats.org/drawingml/2006/main" w="0">
            <a:solidFill>
              <a:srgbClr val="FFF1E3"/>
            </a:solidFill>
            <a:prstDash val="solid"/>
          </a:ln>
        </p:spPr>
        <p:txBody>
          <a:bodyPr xmlns:a="http://schemas.openxmlformats.org/drawingml/2006/main" wrap="square" lIns="171450" tIns="190500" rIns="171450" bIns="1905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25313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31.0 pp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2531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decline in weekly tutoring completion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25313C"/>
                </a:solidFill>
                <a:latin typeface="DejaVu Sans"/>
                <a:ea typeface="DejaVu Sans"/>
                <a:cs typeface="DejaVu Sans"/>
              </a:defRPr>
            </a:pPr>
            <a:r>
              <a:rPr sz="1350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86.5% in week 1
55.5% in week 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26DDE-F9C4-4C4E-A76E-5B15889A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953000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313C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238 of 431 students (55.2%) completed tutoring in all six distinct weeks.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87D97-78C3-4937-9284-021FBCF7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7D8A96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7D8A96"/>
                </a:solidFill>
                <a:latin typeface="DejaVu Sans"/>
                <a:ea typeface="DejaVu Sans"/>
                <a:cs typeface="DejaVu Sans"/>
              </a:rPr>
              <a:t>Source: candidate-provided de-identified SurveyCTO exports and form definitions; calculations in RA Data Analysis Task.R.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AEEC64-CDF4-48C2-A166-80373609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7D8A96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7D8A96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44111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5988A-EC7E-4345-87C0-6BB5D521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B6CA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B6CA8"/>
                </a:solidFill>
                <a:latin typeface="DejaVu Sans"/>
                <a:ea typeface="DejaVu Sans"/>
                <a:cs typeface="DejaVu Sans"/>
              </a:rPr>
              <a:t>FINDINGS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110B1-2283-478F-8C7D-9A202847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Promising observed gains, constrained inference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429ED-724F-4EEC-8A5A-0F0C5766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665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573"/>
                </a:solidFill>
                <a:latin typeface="DejaVu Sans"/>
                <a:ea typeface="DejaVu Sans"/>
                <a:cs typeface="DejaVu Sans"/>
              </a:rPr>
              <a:t>Follow-up coverage and study design limit what can be concluded from the paired outcomes.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EAAB0-3043-4BCD-994B-1025A5FB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9EF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23875" y="1695450"/>
          <a:ext xmlns:a="http://schemas.openxmlformats.org/drawingml/2006/main" cx="7000875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c1b4bc0ffa4fc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30286-E4E2-4615-BC5F-3E38BC2B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478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75" b="1">
                <a:solidFill>
                  <a:srgbClr val="F28E2B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F28E2B"/>
                </a:solidFill>
                <a:latin typeface="DejaVu Sans"/>
                <a:ea typeface="DejaVu Sans"/>
                <a:cs typeface="DejaVu Sans"/>
              </a:rPr>
              <a:t>55.7%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F211C-B728-49E1-B28C-945F67DB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193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313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of baseline-assessed students have a valid paired endline.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19DDE-8872-4045-8FDC-F0D5AED5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19450"/>
            <a:ext cx="33337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E2E9EF"/>
            </a:solidFill>
            <a:prstDash val="solid"/>
          </a:ln>
        </p:spPr>
        <p:txBody>
          <a:bodyPr xmlns:a="http://schemas.openxmlformats.org/drawingml/2006/main" wrap="square" lIns="133350" tIns="171450" rIns="171450" bIns="1333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2531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No comparison group. </a:t>
            </a:r>
            <a:r>
              <a:rPr sz="1350" b="0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Changes are not causal impact estimates.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2531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Selective follow-up. </a:t>
            </a:r>
            <a:r>
              <a:rPr sz="1350" b="0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Coverage ranges from 52.3% to 68.4% across baseline levels.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25313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Reporting. </a:t>
            </a:r>
            <a:r>
              <a:rPr sz="1350" b="0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Pair outcomes with reach and attrition.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5177F-FF98-4417-9C7C-06325B16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7D8A96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7D8A96"/>
                </a:solidFill>
                <a:latin typeface="DejaVu Sans"/>
                <a:ea typeface="DejaVu Sans"/>
                <a:cs typeface="DejaVu Sans"/>
              </a:rPr>
              <a:t>Source: candidate-provided de-identified SurveyCTO exports and form definitions; calculations in RA Data Analysis Task.R.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F4326-34C1-4B5C-9BC2-9CF95CF9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7D8A96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7D8A96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708817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8AA5C8-337C-448D-AA8F-FD19548E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B6CA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B6CA8"/>
                </a:solidFill>
                <a:latin typeface="DejaVu Sans"/>
                <a:ea typeface="DejaVu Sans"/>
                <a:cs typeface="DejaVu Sans"/>
              </a:rPr>
              <a:t>PROCESS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57A4C-5366-4E5E-AF73-F591CA23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From call attempts to one student-level dataset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2FD7F-018F-467E-BB34-1C7E984A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665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573"/>
                </a:solidFill>
                <a:latin typeface="DejaVu Sans"/>
                <a:ea typeface="DejaVu Sans"/>
                <a:cs typeface="DejaVu Sans"/>
              </a:rPr>
              <a:t>Rules are fixed before examining KPI values and leave audit flags in the student-level file.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8DE0FE-FDC4-49A2-B692-F165E908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9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10AD0-BA26-404B-9A4F-2E1A4B37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2333625" cy="3143250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E8F2F8"/>
          </a:solidFill>
          <a:ln xmlns:a="http://schemas.openxmlformats.org/drawingml/2006/main" w="19050">
            <a:solidFill>
              <a:srgbClr val="1B6CA8"/>
            </a:solidFill>
            <a:prstDash val="solid"/>
          </a:ln>
        </p:spPr>
        <p:txBody>
          <a:bodyPr xmlns:a="http://schemas.openxmlformats.org/drawingml/2006/main" lIns="171450" tIns="190500" rIns="171450" bIns="17145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>
                <a:solidFill>
                  <a:srgbClr val="25313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1  Read and standardize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>
                <a:solidFill>
                  <a:srgbClr val="25313C"/>
                </a:solidFill>
                <a:latin typeface="DejaVu Sans"/>
                <a:ea typeface="DejaVu Sans"/>
                <a:cs typeface="DejaVu Sans"/>
              </a:defRPr>
            </a:pPr>
            <a:r>
              <a:rPr sz="1350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630 sensitization, 2,186 implementation, and 266 endline submissions.
Normalize hhid, dates, week, status, and numeracy levels.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13724-6979-4BD9-A043-929C166A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66900"/>
            <a:ext cx="2333625" cy="3143250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1E3"/>
          </a:solidFill>
          <a:ln xmlns:a="http://schemas.openxmlformats.org/drawingml/2006/main" w="19050">
            <a:solidFill>
              <a:srgbClr val="F28E2B"/>
            </a:solidFill>
            <a:prstDash val="solid"/>
          </a:ln>
        </p:spPr>
        <p:txBody>
          <a:bodyPr xmlns:a="http://schemas.openxmlformats.org/drawingml/2006/main" lIns="171450" tIns="190500" rIns="171450" bIns="17145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>
                <a:solidFill>
                  <a:srgbClr val="25313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2  Resolve repeats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>
                <a:solidFill>
                  <a:srgbClr val="25313C"/>
                </a:solidFill>
                <a:latin typeface="DejaVu Sans"/>
                <a:ea typeface="DejaVu Sans"/>
                <a:cs typeface="DejaVu Sans"/>
              </a:defRPr>
            </a:pPr>
            <a:r>
              <a:rPr sz="1350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Earliest valid baseline/endline assessment.
Earliest successful student-week; otherwise latest attempt.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77A46-7324-4653-856D-DAEC992D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66900"/>
            <a:ext cx="2333625" cy="3143250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E6F5F3"/>
          </a:solidFill>
          <a:ln xmlns:a="http://schemas.openxmlformats.org/drawingml/2006/main" w="19050">
            <a:solidFill>
              <a:srgbClr val="2A9D8F"/>
            </a:solidFill>
            <a:prstDash val="solid"/>
          </a:ln>
        </p:spPr>
        <p:txBody>
          <a:bodyPr xmlns:a="http://schemas.openxmlformats.org/drawingml/2006/main" lIns="171450" tIns="190500" rIns="171450" bIns="17145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>
                <a:solidFill>
                  <a:srgbClr val="25313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3  Reshape and merge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>
                <a:solidFill>
                  <a:srgbClr val="25313C"/>
                </a:solidFill>
                <a:latin typeface="DejaVu Sans"/>
                <a:ea typeface="DejaVu Sans"/>
                <a:cs typeface="DejaVu Sans"/>
              </a:defRPr>
            </a:pPr>
            <a:r>
              <a:rPr sz="1350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Pivot six selected weekly records wide.
Outer-join 495 observed IDs and keep missing calls distinct from failed calls.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6B7F9-8202-4A64-8263-FF46248D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866900"/>
            <a:ext cx="2333625" cy="3143250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18324A"/>
            </a:solidFill>
            <a:prstDash val="solid"/>
          </a:ln>
        </p:spPr>
        <p:txBody>
          <a:bodyPr xmlns:a="http://schemas.openxmlformats.org/drawingml/2006/main" lIns="171450" tIns="190500" rIns="171450" bIns="17145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>
                <a:solidFill>
                  <a:srgbClr val="25313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4  Define samples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>
                <a:solidFill>
                  <a:srgbClr val="25313C"/>
                </a:solidFill>
                <a:latin typeface="DejaVu Sans"/>
                <a:ea typeface="DejaVu Sans"/>
                <a:cs typeface="DejaVu Sans"/>
              </a:defRPr>
            </a:pPr>
            <a:r>
              <a:rPr sz="1350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431 valid baselines.
240 valid pairs.
Compute KPIs only after eligibility flags and denominators are explicit.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9C382-6EA4-4327-86DC-59D77521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7660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D8A96"/>
          </a:solidFill>
          <a:ln xmlns:a="http://schemas.openxmlformats.org/drawingml/2006/main" w="0">
            <a:solidFill>
              <a:srgbClr val="7D8A9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43A599-CEDA-4EF4-ACC0-F283357A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27660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D8A96"/>
          </a:solidFill>
          <a:ln xmlns:a="http://schemas.openxmlformats.org/drawingml/2006/main" w="0">
            <a:solidFill>
              <a:srgbClr val="7D8A9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19525-0CE9-447B-A8BF-55056016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7660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D8A96"/>
          </a:solidFill>
          <a:ln xmlns:a="http://schemas.openxmlformats.org/drawingml/2006/main" w="0">
            <a:solidFill>
              <a:srgbClr val="7D8A9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7FFD7-3D53-478C-887F-EB43E39D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020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No weekly log means no attempt; tutoring outcomes stay missing.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4FFBB-A499-4E32-8E57-93723A97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7D8A96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7D8A96"/>
                </a:solidFill>
                <a:latin typeface="DejaVu Sans"/>
                <a:ea typeface="DejaVu Sans"/>
                <a:cs typeface="DejaVu Sans"/>
              </a:rPr>
              <a:t>Source: candidate-provided de-identified SurveyCTO exports and form definitions; calculations in RA Data Analysis Task.R.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3E9F12-87C5-40C9-B886-8E9983F5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7D8A96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7D8A96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903779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641B0D-4580-4CF0-B191-A65107F2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B6CA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B6CA8"/>
                </a:solidFill>
                <a:latin typeface="DejaVu Sans"/>
                <a:ea typeface="DejaVu Sans"/>
                <a:cs typeface="DejaVu Sans"/>
              </a:rPr>
              <a:t>PROCESS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66AB6C-8F7E-449B-8B47-940C3432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8324A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8324A"/>
                </a:solidFill>
                <a:latin typeface="DejaVu Sans"/>
                <a:ea typeface="DejaVu Sans"/>
                <a:cs typeface="DejaVu Sans"/>
              </a:rPr>
              <a:t>Targeted controls can prevent repeat data issues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C5DA5-34D1-4D99-A250-F4D2E8E5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665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573"/>
                </a:solidFill>
                <a:latin typeface="DejaVu Sans"/>
                <a:ea typeface="DejaVu Sans"/>
                <a:cs typeface="DejaVu Sans"/>
              </a:rPr>
              <a:t>Keep repeated call attempts, but control which submission becomes the completed analytic event.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F5119-C192-456F-96AD-AE20BE78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9EF"/>
            </a:solidFill>
            <a:prstDash val="solid"/>
          </a:ln>
        </p:spPr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71500" y="1581150"/>
          <a:ext xmlns:a="http://schemas.openxmlformats.org/drawingml/2006/main" cx="11049000" cy="2762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048000"/>
                <a:gridCol w="2571750"/>
                <a:gridCol w="5429250"/>
              </a:tblGrid>
              <a:tr h="4953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Issue</a:t>
                      </a:r>
                    </a:p>
                  </a:txBody>
                  <a:tcPr marL="95250" marR="95250" marT="76200" marB="76200" anchor="ctr"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Evidence</a:t>
                      </a:r>
                    </a:p>
                  </a:txBody>
                  <a:tcPr marL="95250" marR="95250" marT="76200" marB="76200" anchor="ctr">
                    <a:solidFill>
                      <a:srgbClr val="18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Analytic treatment</a:t>
                      </a:r>
                    </a:p>
                  </a:txBody>
                  <a:tcPr marL="95250" marR="95250" marT="76200" marB="76200" anchor="ctr">
                    <a:solidFill>
                      <a:srgbClr val="18324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531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Repeated baseline assessments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531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 students; 3 level conflicts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531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 earliest valid score; retain flags; check latest-score sensitivity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531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Repeated implementation sessions</a:t>
                      </a:r>
                    </a:p>
                  </a:txBody>
                  <a:tcPr marL="95250" marR="95250" marT="76200" marB="762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531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62 student-weeks; 9 operation conflicts</a:t>
                      </a:r>
                    </a:p>
                  </a:txBody>
                  <a:tcPr marL="95250" marR="95250" marT="76200" marB="7620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531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 earliest successful session; retain attempt and conflict counts</a:t>
                      </a:r>
                    </a:p>
                  </a:txBody>
                  <a:tcPr marL="95250" marR="95250" marT="76200" marB="76200" anchor="ctr">
                    <a:solidFill>
                      <a:srgbClr val="F4F7F9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531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Cohort and follow-up gaps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531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22 implementation-only IDs; 191 baseline students lack valid endline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531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Outer-join records; restrict KPI denominator to 240 paired assessments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B82DC-BC07-405F-9B01-FEF610A6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96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55780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55780"/>
                </a:solidFill>
                <a:latin typeface="DejaVu Sans"/>
                <a:ea typeface="DejaVu Sans"/>
                <a:cs typeface="DejaVu Sans"/>
              </a:rPr>
              <a:t>Recommended system changes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DB9F2-ECFA-4422-8FDE-62D6C0CC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00625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0">
                <a:solidFill>
                  <a:srgbClr val="2531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1  Validate IDs. </a:t>
            </a:r>
            <a:r>
              <a:rPr sz="1425" b="0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Preload hhid from a roster with allowed phase and week combinations.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425" b="0">
                <a:solidFill>
                  <a:srgbClr val="2531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2  Control completions. </a:t>
            </a:r>
            <a:r>
              <a:rPr sz="1425" b="0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Allow repeated attempts, but require a supervisor to reopen a completed event.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425" b="0">
                <a:solidFill>
                  <a:srgbClr val="2531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3  Simplify and alert. </a:t>
            </a:r>
            <a:r>
              <a:rPr sz="1425" b="0">
                <a:solidFill>
                  <a:srgbClr val="25313C"/>
                </a:solidFill>
                <a:latin typeface="DejaVu Sans"/>
                <a:ea typeface="DejaVu Sans"/>
                <a:cs typeface="DejaVu Sans"/>
              </a:rPr>
              <a:t>Remove dormant week 7–8 branches; flag duplicates, conflicts, and overdue endlines.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C6397-B5FD-44B0-9B29-96D7A1EC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7D8A96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7D8A96"/>
                </a:solidFill>
                <a:latin typeface="DejaVu Sans"/>
                <a:ea typeface="DejaVu Sans"/>
                <a:cs typeface="DejaVu Sans"/>
              </a:rPr>
              <a:t>Source: candidate-provided de-identified SurveyCTO exports and form definitions; calculations in RA Data Analysis Task.R.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96B407-4391-4240-A84F-545AC784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7D8A96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7D8A96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339440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2026-09-10T11:32:02.7030000Z</dcterms:created>
  <dcterms:modified xsi:type="dcterms:W3CDTF">2026-09-10T11:32:02.7030000Z</dcterms:modified>
</coreProperties>
</file>